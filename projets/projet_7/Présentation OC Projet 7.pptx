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Fira Sans Extra Condensed Medium"/>
      <p:regular r:id="rId26"/>
      <p:bold r:id="rId27"/>
      <p:italic r:id="rId28"/>
      <p:boldItalic r:id="rId29"/>
    </p:embeddedFont>
    <p:embeddedFont>
      <p:font typeface="Roboto Condensed"/>
      <p:regular r:id="rId30"/>
      <p:bold r:id="rId31"/>
      <p:italic r:id="rId32"/>
      <p:boldItalic r:id="rId33"/>
    </p:embeddedFont>
    <p:embeddedFont>
      <p:font typeface="Squada One"/>
      <p:regular r:id="rId34"/>
    </p:embeddedFont>
    <p:embeddedFont>
      <p:font typeface="Roboto Condensed Light"/>
      <p:regular r:id="rId35"/>
      <p:bold r:id="rId36"/>
      <p:italic r:id="rId37"/>
      <p:boldItalic r:id="rId38"/>
    </p:embeddedFont>
    <p:embeddedFont>
      <p:font typeface="Exo 2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4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4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xo2-bold.fntdata"/><Relationship Id="rId20" Type="http://schemas.openxmlformats.org/officeDocument/2006/relationships/slide" Target="slides/slide15.xml"/><Relationship Id="rId42" Type="http://schemas.openxmlformats.org/officeDocument/2006/relationships/font" Target="fonts/Exo2-boldItalic.fntdata"/><Relationship Id="rId41" Type="http://schemas.openxmlformats.org/officeDocument/2006/relationships/font" Target="fonts/Exo2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regular.fntdata"/><Relationship Id="rId25" Type="http://schemas.openxmlformats.org/officeDocument/2006/relationships/slide" Target="slides/slide20.xml"/><Relationship Id="rId28" Type="http://schemas.openxmlformats.org/officeDocument/2006/relationships/font" Target="fonts/FiraSansExtraCondensedMedium-italic.fntdata"/><Relationship Id="rId27" Type="http://schemas.openxmlformats.org/officeDocument/2006/relationships/font" Target="fonts/FiraSansExtraCondensed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-bold.fntdata"/><Relationship Id="rId30" Type="http://schemas.openxmlformats.org/officeDocument/2006/relationships/font" Target="fonts/RobotoCondensed-regular.fntdata"/><Relationship Id="rId11" Type="http://schemas.openxmlformats.org/officeDocument/2006/relationships/slide" Target="slides/slide6.xml"/><Relationship Id="rId33" Type="http://schemas.openxmlformats.org/officeDocument/2006/relationships/font" Target="fonts/RobotoCondensed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Condensed-italic.fntdata"/><Relationship Id="rId13" Type="http://schemas.openxmlformats.org/officeDocument/2006/relationships/slide" Target="slides/slide8.xml"/><Relationship Id="rId35" Type="http://schemas.openxmlformats.org/officeDocument/2006/relationships/font" Target="fonts/RobotoCondensedLight-regular.fntdata"/><Relationship Id="rId12" Type="http://schemas.openxmlformats.org/officeDocument/2006/relationships/slide" Target="slides/slide7.xml"/><Relationship Id="rId34" Type="http://schemas.openxmlformats.org/officeDocument/2006/relationships/font" Target="fonts/SquadaOne-regular.fntdata"/><Relationship Id="rId15" Type="http://schemas.openxmlformats.org/officeDocument/2006/relationships/slide" Target="slides/slide10.xml"/><Relationship Id="rId37" Type="http://schemas.openxmlformats.org/officeDocument/2006/relationships/font" Target="fonts/RobotoCondensedLight-italic.fntdata"/><Relationship Id="rId14" Type="http://schemas.openxmlformats.org/officeDocument/2006/relationships/slide" Target="slides/slide9.xml"/><Relationship Id="rId36" Type="http://schemas.openxmlformats.org/officeDocument/2006/relationships/font" Target="fonts/RobotoCondensedLight-bold.fntdata"/><Relationship Id="rId17" Type="http://schemas.openxmlformats.org/officeDocument/2006/relationships/slide" Target="slides/slide12.xml"/><Relationship Id="rId39" Type="http://schemas.openxmlformats.org/officeDocument/2006/relationships/font" Target="fonts/Exo2-regular.fntdata"/><Relationship Id="rId16" Type="http://schemas.openxmlformats.org/officeDocument/2006/relationships/slide" Target="slides/slide11.xml"/><Relationship Id="rId38" Type="http://schemas.openxmlformats.org/officeDocument/2006/relationships/font" Target="fonts/RobotoCondensed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0422e0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0422e0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8d3b44f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8d3b44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8d3b44f0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8d3b44f0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Sélection de features adaptées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clusters doivent être compréhensibles et et actionnables pour des </a:t>
            </a:r>
            <a:r>
              <a:rPr lang="en"/>
              <a:t>campagnes</a:t>
            </a:r>
            <a:r>
              <a:rPr lang="en"/>
              <a:t> marketing/comm/autre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ee9a0f34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ee9a0f34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ee9a0f34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ee9a0f34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58d3b44f0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58d3b44f0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0422e0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0422e0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ee9a0f34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ee9a0f34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ee9a0f343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ee9a0f343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58d3b44f0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58d3b44f0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e9a0f343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ee9a0f343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ee9a0f343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ee9a0f343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ed8adbe6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5ed8adbe6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ee9a0f3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ee9a0f3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Sélection de features adaptées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clusters doivent être compréhensibles et et actionnables pour des campagnes marketing/comm/autre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ee9a0f343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5ee9a0f343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ed8adbe6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ed8adbe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5ee9a0f343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5ee9a0f343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e9a0f34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e9a0f34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c21146eb8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c21146eb8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2" type="ctrTitle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3" type="title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hasCustomPrompt="1" idx="4" type="title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hasCustomPrompt="1" idx="5" type="title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hasCustomPrompt="1" idx="6" type="title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hasCustomPrompt="1" idx="7" type="title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/>
          <p:nvPr>
            <p:ph hasCustomPrompt="1" idx="8" type="title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9" type="ctrTitle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" name="Google Shape;24;p3"/>
          <p:cNvSpPr txBox="1"/>
          <p:nvPr>
            <p:ph idx="13" type="subTitle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5" name="Google Shape;25;p3"/>
          <p:cNvSpPr txBox="1"/>
          <p:nvPr>
            <p:ph idx="14" type="ctrTitle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6" name="Google Shape;26;p3"/>
          <p:cNvSpPr txBox="1"/>
          <p:nvPr>
            <p:ph idx="15" type="subTitle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7" name="Google Shape;27;p3"/>
          <p:cNvSpPr txBox="1"/>
          <p:nvPr>
            <p:ph idx="16" type="ctrTitle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" name="Google Shape;28;p3"/>
          <p:cNvSpPr txBox="1"/>
          <p:nvPr>
            <p:ph idx="17" type="subTitle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" name="Google Shape;29;p3"/>
          <p:cNvSpPr txBox="1"/>
          <p:nvPr>
            <p:ph idx="18" type="ctrTitle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" name="Google Shape;30;p3"/>
          <p:cNvSpPr txBox="1"/>
          <p:nvPr>
            <p:ph idx="19" type="subTitle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3"/>
          <p:cNvSpPr txBox="1"/>
          <p:nvPr>
            <p:ph idx="20" type="ctrTitle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" name="Google Shape;32;p3"/>
          <p:cNvSpPr txBox="1"/>
          <p:nvPr>
            <p:ph idx="21" type="subTitle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hasCustomPrompt="1" idx="2" type="title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ctrTitle"/>
          </p:nvPr>
        </p:nvSpPr>
        <p:spPr>
          <a:xfrm>
            <a:off x="2638350" y="376498"/>
            <a:ext cx="38673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2459550" y="2314225"/>
            <a:ext cx="42249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2" type="title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" type="subTitle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to">
  <p:cSld name="CUSTOM_2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ctrTitle"/>
          </p:nvPr>
        </p:nvSpPr>
        <p:spPr>
          <a:xfrm>
            <a:off x="1600733" y="985228"/>
            <a:ext cx="26736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1179233" y="3058425"/>
            <a:ext cx="30951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8"/>
          <p:cNvSpPr txBox="1"/>
          <p:nvPr>
            <p:ph idx="2" type="ctrTitle"/>
          </p:nvPr>
        </p:nvSpPr>
        <p:spPr>
          <a:xfrm>
            <a:off x="1932090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">
  <p:cSld name="CUSTOM_2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9"/>
          <p:cNvSpPr txBox="1"/>
          <p:nvPr>
            <p:ph hasCustomPrompt="1" idx="2" type="title"/>
          </p:nvPr>
        </p:nvSpPr>
        <p:spPr>
          <a:xfrm>
            <a:off x="1086651" y="1475125"/>
            <a:ext cx="17952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 flipH="1">
            <a:off x="3481677" y="1666454"/>
            <a:ext cx="3264900" cy="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9"/>
          <p:cNvSpPr txBox="1"/>
          <p:nvPr>
            <p:ph hasCustomPrompt="1" idx="3" type="title"/>
          </p:nvPr>
        </p:nvSpPr>
        <p:spPr>
          <a:xfrm>
            <a:off x="2298451" y="2475350"/>
            <a:ext cx="17637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9"/>
          <p:cNvSpPr txBox="1"/>
          <p:nvPr>
            <p:ph idx="4" type="subTitle"/>
          </p:nvPr>
        </p:nvSpPr>
        <p:spPr>
          <a:xfrm flipH="1">
            <a:off x="4568051" y="2688425"/>
            <a:ext cx="3264900" cy="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9"/>
          <p:cNvSpPr txBox="1"/>
          <p:nvPr>
            <p:ph hasCustomPrompt="1" idx="5" type="title"/>
          </p:nvPr>
        </p:nvSpPr>
        <p:spPr>
          <a:xfrm>
            <a:off x="3353176" y="3513625"/>
            <a:ext cx="17952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9"/>
          <p:cNvSpPr txBox="1"/>
          <p:nvPr>
            <p:ph idx="6" type="subTitle"/>
          </p:nvPr>
        </p:nvSpPr>
        <p:spPr>
          <a:xfrm flipH="1">
            <a:off x="5671490" y="3709941"/>
            <a:ext cx="3264900" cy="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_2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0"/>
          <p:cNvSpPr txBox="1"/>
          <p:nvPr>
            <p:ph idx="2" type="ctrTitle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0"/>
          <p:cNvSpPr txBox="1"/>
          <p:nvPr>
            <p:ph idx="3" type="ctrTitle"/>
          </p:nvPr>
        </p:nvSpPr>
        <p:spPr>
          <a:xfrm>
            <a:off x="3235200" y="2804713"/>
            <a:ext cx="26736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4" type="subTitle"/>
          </p:nvPr>
        </p:nvSpPr>
        <p:spPr>
          <a:xfrm>
            <a:off x="3462900" y="2036750"/>
            <a:ext cx="2218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1" name="Google Shape;71;p10"/>
          <p:cNvSpPr txBox="1"/>
          <p:nvPr>
            <p:ph idx="5" type="ctrTitle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6" type="subTitle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hasCustomPrompt="1" idx="2" type="title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subTitle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2"/>
          <p:cNvSpPr txBox="1"/>
          <p:nvPr>
            <p:ph idx="2" type="ctrTitle"/>
          </p:nvPr>
        </p:nvSpPr>
        <p:spPr>
          <a:xfrm>
            <a:off x="464478" y="1806500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616128" y="2100749"/>
            <a:ext cx="1477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3" name="Google Shape;83;p12"/>
          <p:cNvSpPr txBox="1"/>
          <p:nvPr>
            <p:ph idx="3" type="ctrTitle"/>
          </p:nvPr>
        </p:nvSpPr>
        <p:spPr>
          <a:xfrm>
            <a:off x="2077426" y="1806500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4" type="subTitle"/>
          </p:nvPr>
        </p:nvSpPr>
        <p:spPr>
          <a:xfrm>
            <a:off x="2229076" y="2100749"/>
            <a:ext cx="1477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5" name="Google Shape;85;p12"/>
          <p:cNvSpPr txBox="1"/>
          <p:nvPr>
            <p:ph idx="5" type="ctrTitle"/>
          </p:nvPr>
        </p:nvSpPr>
        <p:spPr>
          <a:xfrm>
            <a:off x="3690375" y="1806500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6" type="subTitle"/>
          </p:nvPr>
        </p:nvSpPr>
        <p:spPr>
          <a:xfrm>
            <a:off x="3842025" y="2100749"/>
            <a:ext cx="1477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2"/>
          <p:cNvSpPr txBox="1"/>
          <p:nvPr>
            <p:ph idx="7" type="ctrTitle"/>
          </p:nvPr>
        </p:nvSpPr>
        <p:spPr>
          <a:xfrm>
            <a:off x="3707117" y="3549862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8" type="subTitle"/>
          </p:nvPr>
        </p:nvSpPr>
        <p:spPr>
          <a:xfrm>
            <a:off x="3858772" y="3890201"/>
            <a:ext cx="1477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9" name="Google Shape;89;p12"/>
          <p:cNvSpPr txBox="1"/>
          <p:nvPr>
            <p:ph idx="9" type="ctrTitle"/>
          </p:nvPr>
        </p:nvSpPr>
        <p:spPr>
          <a:xfrm>
            <a:off x="5343519" y="3549862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13" type="subTitle"/>
          </p:nvPr>
        </p:nvSpPr>
        <p:spPr>
          <a:xfrm>
            <a:off x="5500261" y="3890201"/>
            <a:ext cx="1477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1" name="Google Shape;91;p12"/>
          <p:cNvSpPr txBox="1"/>
          <p:nvPr>
            <p:ph idx="14" type="ctrTitle"/>
          </p:nvPr>
        </p:nvSpPr>
        <p:spPr>
          <a:xfrm>
            <a:off x="6979921" y="3549862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15" type="subTitle"/>
          </p:nvPr>
        </p:nvSpPr>
        <p:spPr>
          <a:xfrm>
            <a:off x="7141750" y="3890201"/>
            <a:ext cx="14568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2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3"/>
          <p:cNvSpPr txBox="1"/>
          <p:nvPr>
            <p:ph idx="2" type="ctrTitle"/>
          </p:nvPr>
        </p:nvSpPr>
        <p:spPr>
          <a:xfrm>
            <a:off x="1741950" y="2846700"/>
            <a:ext cx="12579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1741950" y="1650025"/>
            <a:ext cx="21573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8" name="Google Shape;98;p13"/>
          <p:cNvSpPr txBox="1"/>
          <p:nvPr>
            <p:ph idx="3" type="ctrTitle"/>
          </p:nvPr>
        </p:nvSpPr>
        <p:spPr>
          <a:xfrm>
            <a:off x="5633751" y="3635300"/>
            <a:ext cx="17805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13"/>
          <p:cNvSpPr txBox="1"/>
          <p:nvPr>
            <p:ph idx="4" type="subTitle"/>
          </p:nvPr>
        </p:nvSpPr>
        <p:spPr>
          <a:xfrm>
            <a:off x="5256958" y="2440056"/>
            <a:ext cx="21573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USTOM_1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4">
  <p:cSld name="CUSTOM_2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hasCustomPrompt="1" idx="2" type="title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2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16"/>
          <p:cNvSpPr txBox="1"/>
          <p:nvPr>
            <p:ph idx="2" type="ctrTitle"/>
          </p:nvPr>
        </p:nvSpPr>
        <p:spPr>
          <a:xfrm>
            <a:off x="2285760" y="1652042"/>
            <a:ext cx="17931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2285760" y="1946292"/>
            <a:ext cx="1708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3" name="Google Shape;113;p16"/>
          <p:cNvSpPr txBox="1"/>
          <p:nvPr>
            <p:ph idx="3" type="ctrTitle"/>
          </p:nvPr>
        </p:nvSpPr>
        <p:spPr>
          <a:xfrm>
            <a:off x="2285760" y="3570573"/>
            <a:ext cx="17931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4" type="subTitle"/>
          </p:nvPr>
        </p:nvSpPr>
        <p:spPr>
          <a:xfrm>
            <a:off x="2285760" y="3864823"/>
            <a:ext cx="17082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5" name="Google Shape;115;p16"/>
          <p:cNvSpPr txBox="1"/>
          <p:nvPr>
            <p:ph idx="5" type="ctrTitle"/>
          </p:nvPr>
        </p:nvSpPr>
        <p:spPr>
          <a:xfrm>
            <a:off x="5047297" y="1652042"/>
            <a:ext cx="17931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6" name="Google Shape;116;p16"/>
          <p:cNvSpPr txBox="1"/>
          <p:nvPr>
            <p:ph idx="6" type="subTitle"/>
          </p:nvPr>
        </p:nvSpPr>
        <p:spPr>
          <a:xfrm>
            <a:off x="5047299" y="1946292"/>
            <a:ext cx="17931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7" name="Google Shape;117;p16"/>
          <p:cNvSpPr txBox="1"/>
          <p:nvPr>
            <p:ph idx="7" type="ctrTitle"/>
          </p:nvPr>
        </p:nvSpPr>
        <p:spPr>
          <a:xfrm>
            <a:off x="5047297" y="3570573"/>
            <a:ext cx="17931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idx="8" type="subTitle"/>
          </p:nvPr>
        </p:nvSpPr>
        <p:spPr>
          <a:xfrm>
            <a:off x="5047299" y="3864823"/>
            <a:ext cx="17931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29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ctrTitle"/>
          </p:nvPr>
        </p:nvSpPr>
        <p:spPr>
          <a:xfrm flipH="1">
            <a:off x="1193529" y="1611150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5">
  <p:cSld name="CUSTOM_3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hasCustomPrompt="1" idx="2" type="title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USTOM_1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4">
  <p:cSld name="CUSTOM_15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6">
  <p:cSld name="CUSTOM_3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ctrTitle"/>
          </p:nvPr>
        </p:nvSpPr>
        <p:spPr>
          <a:xfrm flipH="1">
            <a:off x="1698072" y="2178475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hasCustomPrompt="1" idx="2" type="title"/>
          </p:nvPr>
        </p:nvSpPr>
        <p:spPr>
          <a:xfrm flipH="1">
            <a:off x="3914472" y="18666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2668872" y="3476054"/>
            <a:ext cx="42249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5">
  <p:cSld name="CUSTOM_15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ctrTitle"/>
          </p:nvPr>
        </p:nvSpPr>
        <p:spPr>
          <a:xfrm flipH="1">
            <a:off x="1974150" y="1161000"/>
            <a:ext cx="5195700" cy="13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2152500" y="2494850"/>
            <a:ext cx="48390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/>
        </p:nvSpPr>
        <p:spPr>
          <a:xfrm>
            <a:off x="625906" y="3722418"/>
            <a:ext cx="3830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b="1" sz="9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33">
    <p:bg>
      <p:bgPr>
        <a:noFill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ctrTitle"/>
          </p:nvPr>
        </p:nvSpPr>
        <p:spPr>
          <a:xfrm>
            <a:off x="43200" y="319350"/>
            <a:ext cx="8741700" cy="23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 n°7 :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“Implémentez un modèle de scoring”</a:t>
            </a:r>
            <a:endParaRPr/>
          </a:p>
        </p:txBody>
      </p:sp>
      <p:sp>
        <p:nvSpPr>
          <p:cNvPr id="158" name="Google Shape;158;p26"/>
          <p:cNvSpPr txBox="1"/>
          <p:nvPr>
            <p:ph idx="1" type="subTitle"/>
          </p:nvPr>
        </p:nvSpPr>
        <p:spPr>
          <a:xfrm>
            <a:off x="4695050" y="3805501"/>
            <a:ext cx="4224900" cy="10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Soutenance de Projet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2025-05-29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Gaillot Dimitri</a:t>
            </a:r>
            <a:endParaRPr sz="2000"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26"/>
          <p:cNvCxnSpPr/>
          <p:nvPr/>
        </p:nvCxnSpPr>
        <p:spPr>
          <a:xfrm rot="10800000">
            <a:off x="2249094" y="2713661"/>
            <a:ext cx="68949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-62650" y="0"/>
            <a:ext cx="2980500" cy="9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SOMMAIRE</a:t>
            </a:r>
            <a:endParaRPr sz="3600"/>
          </a:p>
        </p:txBody>
      </p:sp>
      <p:sp>
        <p:nvSpPr>
          <p:cNvPr id="166" name="Google Shape;166;p27"/>
          <p:cNvSpPr txBox="1"/>
          <p:nvPr>
            <p:ph idx="2" type="ctrTitle"/>
          </p:nvPr>
        </p:nvSpPr>
        <p:spPr>
          <a:xfrm>
            <a:off x="4410918" y="403301"/>
            <a:ext cx="18252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CONTEXTE</a:t>
            </a:r>
            <a:endParaRPr sz="2300"/>
          </a:p>
        </p:txBody>
      </p:sp>
      <p:sp>
        <p:nvSpPr>
          <p:cNvPr id="167" name="Google Shape;167;p27"/>
          <p:cNvSpPr txBox="1"/>
          <p:nvPr>
            <p:ph idx="1" type="subTitle"/>
          </p:nvPr>
        </p:nvSpPr>
        <p:spPr>
          <a:xfrm>
            <a:off x="4119588" y="753311"/>
            <a:ext cx="2115300" cy="5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Rappel de la problématique, jeu de données</a:t>
            </a:r>
            <a:endParaRPr sz="1300"/>
          </a:p>
        </p:txBody>
      </p:sp>
      <p:sp>
        <p:nvSpPr>
          <p:cNvPr id="168" name="Google Shape;168;p27"/>
          <p:cNvSpPr txBox="1"/>
          <p:nvPr>
            <p:ph idx="9" type="ctrTitle"/>
          </p:nvPr>
        </p:nvSpPr>
        <p:spPr>
          <a:xfrm>
            <a:off x="4410918" y="1296488"/>
            <a:ext cx="18252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MODELE</a:t>
            </a:r>
            <a:endParaRPr sz="2300"/>
          </a:p>
        </p:txBody>
      </p:sp>
      <p:sp>
        <p:nvSpPr>
          <p:cNvPr id="169" name="Google Shape;169;p27"/>
          <p:cNvSpPr txBox="1"/>
          <p:nvPr>
            <p:ph idx="13" type="subTitle"/>
          </p:nvPr>
        </p:nvSpPr>
        <p:spPr>
          <a:xfrm>
            <a:off x="3777875" y="1657300"/>
            <a:ext cx="2457000" cy="5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Préparation des données,</a:t>
            </a:r>
            <a:endParaRPr sz="1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Modélisation, MLFlow, Data Drift</a:t>
            </a:r>
            <a:endParaRPr sz="1300"/>
          </a:p>
        </p:txBody>
      </p:sp>
      <p:sp>
        <p:nvSpPr>
          <p:cNvPr id="170" name="Google Shape;170;p27"/>
          <p:cNvSpPr txBox="1"/>
          <p:nvPr>
            <p:ph idx="3" type="title"/>
          </p:nvPr>
        </p:nvSpPr>
        <p:spPr>
          <a:xfrm>
            <a:off x="2844448" y="455873"/>
            <a:ext cx="10239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01</a:t>
            </a:r>
            <a:endParaRPr sz="3800"/>
          </a:p>
        </p:txBody>
      </p:sp>
      <p:sp>
        <p:nvSpPr>
          <p:cNvPr id="171" name="Google Shape;171;p27"/>
          <p:cNvSpPr txBox="1"/>
          <p:nvPr>
            <p:ph idx="5" type="title"/>
          </p:nvPr>
        </p:nvSpPr>
        <p:spPr>
          <a:xfrm>
            <a:off x="2855931" y="2251808"/>
            <a:ext cx="10239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03</a:t>
            </a:r>
            <a:endParaRPr sz="3800"/>
          </a:p>
        </p:txBody>
      </p:sp>
      <p:sp>
        <p:nvSpPr>
          <p:cNvPr id="172" name="Google Shape;172;p27"/>
          <p:cNvSpPr txBox="1"/>
          <p:nvPr>
            <p:ph idx="4" type="title"/>
          </p:nvPr>
        </p:nvSpPr>
        <p:spPr>
          <a:xfrm>
            <a:off x="2867407" y="1353852"/>
            <a:ext cx="10239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02</a:t>
            </a:r>
            <a:endParaRPr sz="3800"/>
          </a:p>
        </p:txBody>
      </p:sp>
      <p:cxnSp>
        <p:nvCxnSpPr>
          <p:cNvPr id="173" name="Google Shape;173;p27"/>
          <p:cNvCxnSpPr/>
          <p:nvPr/>
        </p:nvCxnSpPr>
        <p:spPr>
          <a:xfrm flipH="1">
            <a:off x="3968860" y="457200"/>
            <a:ext cx="300" cy="444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7"/>
          <p:cNvSpPr txBox="1"/>
          <p:nvPr>
            <p:ph idx="14" type="ctrTitle"/>
          </p:nvPr>
        </p:nvSpPr>
        <p:spPr>
          <a:xfrm>
            <a:off x="4120513" y="2197982"/>
            <a:ext cx="21153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API</a:t>
            </a:r>
            <a:endParaRPr sz="2300"/>
          </a:p>
        </p:txBody>
      </p:sp>
      <p:sp>
        <p:nvSpPr>
          <p:cNvPr id="175" name="Google Shape;175;p27"/>
          <p:cNvSpPr txBox="1"/>
          <p:nvPr>
            <p:ph idx="15" type="subTitle"/>
          </p:nvPr>
        </p:nvSpPr>
        <p:spPr>
          <a:xfrm>
            <a:off x="4261970" y="2548858"/>
            <a:ext cx="1973100" cy="5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Prédictions avec modèle, </a:t>
            </a:r>
            <a:endParaRPr sz="1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Points d’appel, Tests</a:t>
            </a:r>
            <a:endParaRPr sz="1300"/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7"/>
          <p:cNvSpPr txBox="1"/>
          <p:nvPr>
            <p:ph idx="5" type="title"/>
          </p:nvPr>
        </p:nvSpPr>
        <p:spPr>
          <a:xfrm>
            <a:off x="2896999" y="3149747"/>
            <a:ext cx="10239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04</a:t>
            </a:r>
            <a:endParaRPr sz="3800"/>
          </a:p>
        </p:txBody>
      </p:sp>
      <p:sp>
        <p:nvSpPr>
          <p:cNvPr id="178" name="Google Shape;178;p27"/>
          <p:cNvSpPr txBox="1"/>
          <p:nvPr>
            <p:ph idx="14" type="ctrTitle"/>
          </p:nvPr>
        </p:nvSpPr>
        <p:spPr>
          <a:xfrm>
            <a:off x="4120513" y="3113724"/>
            <a:ext cx="21153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DASHBOARD</a:t>
            </a:r>
            <a:endParaRPr sz="2300"/>
          </a:p>
        </p:txBody>
      </p:sp>
      <p:sp>
        <p:nvSpPr>
          <p:cNvPr id="179" name="Google Shape;179;p27"/>
          <p:cNvSpPr txBox="1"/>
          <p:nvPr>
            <p:ph idx="15" type="subTitle"/>
          </p:nvPr>
        </p:nvSpPr>
        <p:spPr>
          <a:xfrm>
            <a:off x="4261973" y="3503515"/>
            <a:ext cx="19731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Appels API,</a:t>
            </a:r>
            <a:endParaRPr sz="1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Mise en forme &amp; export</a:t>
            </a:r>
            <a:endParaRPr sz="1300"/>
          </a:p>
        </p:txBody>
      </p:sp>
      <p:sp>
        <p:nvSpPr>
          <p:cNvPr id="180" name="Google Shape;180;p27"/>
          <p:cNvSpPr txBox="1"/>
          <p:nvPr>
            <p:ph idx="5" type="title"/>
          </p:nvPr>
        </p:nvSpPr>
        <p:spPr>
          <a:xfrm>
            <a:off x="2867395" y="4119294"/>
            <a:ext cx="10239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05</a:t>
            </a:r>
            <a:endParaRPr sz="3800"/>
          </a:p>
        </p:txBody>
      </p:sp>
      <p:sp>
        <p:nvSpPr>
          <p:cNvPr id="181" name="Google Shape;181;p27"/>
          <p:cNvSpPr txBox="1"/>
          <p:nvPr>
            <p:ph idx="14" type="ctrTitle"/>
          </p:nvPr>
        </p:nvSpPr>
        <p:spPr>
          <a:xfrm>
            <a:off x="4046700" y="4104645"/>
            <a:ext cx="22095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DEPLOIEMENT</a:t>
            </a:r>
            <a:endParaRPr sz="2300"/>
          </a:p>
        </p:txBody>
      </p:sp>
      <p:sp>
        <p:nvSpPr>
          <p:cNvPr id="182" name="Google Shape;182;p27"/>
          <p:cNvSpPr txBox="1"/>
          <p:nvPr>
            <p:ph idx="15" type="subTitle"/>
          </p:nvPr>
        </p:nvSpPr>
        <p:spPr>
          <a:xfrm>
            <a:off x="4045949" y="4494445"/>
            <a:ext cx="22095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Docker : local &amp; production sur Google Cloud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188" name="Google Shape;188;p28"/>
          <p:cNvSpPr txBox="1"/>
          <p:nvPr>
            <p:ph idx="2" type="title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89" name="Google Shape;189;p28"/>
          <p:cNvCxnSpPr/>
          <p:nvPr/>
        </p:nvCxnSpPr>
        <p:spPr>
          <a:xfrm>
            <a:off x="0" y="4028275"/>
            <a:ext cx="15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9"/>
          <p:cNvCxnSpPr/>
          <p:nvPr/>
        </p:nvCxnSpPr>
        <p:spPr>
          <a:xfrm>
            <a:off x="1923260" y="1776958"/>
            <a:ext cx="136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9"/>
          <p:cNvSpPr txBox="1"/>
          <p:nvPr>
            <p:ph idx="2" type="ctrTitle"/>
          </p:nvPr>
        </p:nvSpPr>
        <p:spPr>
          <a:xfrm>
            <a:off x="1978526" y="72025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Crédit “Prêt à dépenser”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Objectifs</a:t>
            </a:r>
            <a:endParaRPr sz="2600"/>
          </a:p>
        </p:txBody>
      </p:sp>
      <p:sp>
        <p:nvSpPr>
          <p:cNvPr id="197" name="Google Shape;197;p29"/>
          <p:cNvSpPr txBox="1"/>
          <p:nvPr>
            <p:ph type="ctrTitle"/>
          </p:nvPr>
        </p:nvSpPr>
        <p:spPr>
          <a:xfrm>
            <a:off x="3291251" y="1381575"/>
            <a:ext cx="548700" cy="5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1</a:t>
            </a:r>
            <a:endParaRPr sz="2200"/>
          </a:p>
        </p:txBody>
      </p:sp>
      <p:sp>
        <p:nvSpPr>
          <p:cNvPr id="198" name="Google Shape;198;p29"/>
          <p:cNvSpPr txBox="1"/>
          <p:nvPr>
            <p:ph idx="1" type="subTitle"/>
          </p:nvPr>
        </p:nvSpPr>
        <p:spPr>
          <a:xfrm>
            <a:off x="3139000" y="1572050"/>
            <a:ext cx="5335200" cy="1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Mettre en place un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modèle de “scoring crédit”</a:t>
            </a:r>
            <a:r>
              <a:rPr lang="en" sz="1700">
                <a:solidFill>
                  <a:schemeClr val="dk1"/>
                </a:solidFill>
              </a:rPr>
              <a:t> pour calculer la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probabilité</a:t>
            </a:r>
            <a:r>
              <a:rPr lang="en" sz="1700">
                <a:solidFill>
                  <a:schemeClr val="dk1"/>
                </a:solidFill>
              </a:rPr>
              <a:t> qu’un client rembourse son crédit. Classifier la demande en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crédit accordé / refusé</a:t>
            </a:r>
            <a:r>
              <a:rPr lang="en" sz="1700">
                <a:solidFill>
                  <a:schemeClr val="dk1"/>
                </a:solidFill>
              </a:rPr>
              <a:t>.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99" name="Google Shape;199;p29" title="15510866018677_logo projet fintech.png"/>
          <p:cNvPicPr preferRelativeResize="0"/>
          <p:nvPr/>
        </p:nvPicPr>
        <p:blipFill rotWithShape="1">
          <a:blip r:embed="rId3">
            <a:alphaModFix/>
          </a:blip>
          <a:srcRect b="0" l="4701" r="4701" t="0"/>
          <a:stretch/>
        </p:blipFill>
        <p:spPr>
          <a:xfrm>
            <a:off x="243310" y="1100308"/>
            <a:ext cx="2388600" cy="2420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>
            <p:ph type="ctrTitle"/>
          </p:nvPr>
        </p:nvSpPr>
        <p:spPr>
          <a:xfrm>
            <a:off x="3291251" y="2533584"/>
            <a:ext cx="474600" cy="5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2</a:t>
            </a:r>
            <a:endParaRPr sz="2200"/>
          </a:p>
        </p:txBody>
      </p:sp>
      <p:sp>
        <p:nvSpPr>
          <p:cNvPr id="201" name="Google Shape;201;p29"/>
          <p:cNvSpPr txBox="1"/>
          <p:nvPr>
            <p:ph idx="1" type="subTitle"/>
          </p:nvPr>
        </p:nvSpPr>
        <p:spPr>
          <a:xfrm>
            <a:off x="3150025" y="2746295"/>
            <a:ext cx="5335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Développer un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dashboard interactif</a:t>
            </a:r>
            <a:r>
              <a:rPr lang="en" sz="1700">
                <a:solidFill>
                  <a:schemeClr val="dk1"/>
                </a:solidFill>
              </a:rPr>
              <a:t> permettant aux chargés de relation client d’interpréter les prédictions et d’améliorer leur connaissance client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9"/>
          <p:cNvSpPr txBox="1"/>
          <p:nvPr>
            <p:ph type="ctrTitle"/>
          </p:nvPr>
        </p:nvSpPr>
        <p:spPr>
          <a:xfrm>
            <a:off x="3288628" y="3635159"/>
            <a:ext cx="548700" cy="5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</a:t>
            </a:r>
            <a:endParaRPr sz="2200"/>
          </a:p>
        </p:txBody>
      </p:sp>
      <p:sp>
        <p:nvSpPr>
          <p:cNvPr id="204" name="Google Shape;204;p29"/>
          <p:cNvSpPr txBox="1"/>
          <p:nvPr>
            <p:ph idx="1" type="subTitle"/>
          </p:nvPr>
        </p:nvSpPr>
        <p:spPr>
          <a:xfrm>
            <a:off x="3147700" y="3875977"/>
            <a:ext cx="5335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Mettre en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production</a:t>
            </a:r>
            <a:r>
              <a:rPr lang="en" sz="1700">
                <a:solidFill>
                  <a:schemeClr val="dk1"/>
                </a:solidFill>
              </a:rPr>
              <a:t> le modèle de scoring à l’aide d’une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API</a:t>
            </a:r>
            <a:r>
              <a:rPr lang="en" sz="1700">
                <a:solidFill>
                  <a:schemeClr val="dk1"/>
                </a:solidFill>
              </a:rPr>
              <a:t> et du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dashboard</a:t>
            </a:r>
            <a:r>
              <a:rPr lang="en" sz="1700">
                <a:solidFill>
                  <a:schemeClr val="dk1"/>
                </a:solidFill>
              </a:rPr>
              <a:t> interactif utilisant l’API pour les prédictions.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05" name="Google Shape;205;p29"/>
          <p:cNvSpPr txBox="1"/>
          <p:nvPr>
            <p:ph idx="2"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Contexte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ctrTitle"/>
          </p:nvPr>
        </p:nvSpPr>
        <p:spPr>
          <a:xfrm>
            <a:off x="1964850" y="124250"/>
            <a:ext cx="52143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Jeux de données</a:t>
            </a:r>
            <a:endParaRPr sz="2600"/>
          </a:p>
        </p:txBody>
      </p:sp>
      <p:sp>
        <p:nvSpPr>
          <p:cNvPr id="211" name="Google Shape;211;p30"/>
          <p:cNvSpPr/>
          <p:nvPr/>
        </p:nvSpPr>
        <p:spPr>
          <a:xfrm>
            <a:off x="660575" y="1668814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701125" y="1887236"/>
            <a:ext cx="2207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bureau.csv</a:t>
            </a:r>
            <a:endParaRPr b="1" sz="18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3364550" y="1667388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3415625" y="1581400"/>
            <a:ext cx="42780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Crédits passés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fournis par d’autres institutions financières.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pour chaque crédit extérieur existant avant la demande.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660575" y="872989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 txBox="1"/>
          <p:nvPr/>
        </p:nvSpPr>
        <p:spPr>
          <a:xfrm>
            <a:off x="663756" y="1091400"/>
            <a:ext cx="2298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application_{train|test}</a:t>
            </a: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.csv</a:t>
            </a:r>
            <a:endParaRPr b="1"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3364550" y="884826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/>
        </p:nvSpPr>
        <p:spPr>
          <a:xfrm>
            <a:off x="3415625" y="798825"/>
            <a:ext cx="42780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principale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séparée en deux :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(avec TARGET) et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(sans TARGET).</a:t>
            </a:r>
            <a:b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= un prêt.</a:t>
            </a:r>
            <a:endParaRPr sz="13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660575" y="2491414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701125" y="2709836"/>
            <a:ext cx="2207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bureau_balance.csv</a:t>
            </a:r>
            <a:endParaRPr b="1"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3364550" y="2503251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/>
        </p:nvSpPr>
        <p:spPr>
          <a:xfrm>
            <a:off x="3415625" y="2417250"/>
            <a:ext cx="42165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Soldes mensuels des crédits passés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liés au Bureau.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par mois d’historique de chaque crédit dans le Bureau.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660575" y="3318364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701125" y="3536786"/>
            <a:ext cx="2207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POS_CASH_balance.</a:t>
            </a: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csv</a:t>
            </a:r>
            <a:endParaRPr b="1" sz="17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3364550" y="3330201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/>
        </p:nvSpPr>
        <p:spPr>
          <a:xfrm>
            <a:off x="3415625" y="3244200"/>
            <a:ext cx="44046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Instantanés des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soldes mensuels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crédits POS 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(point de vente) &amp;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crédits cash 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avec Home Credit.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pour chaque mois d’historique de crédits antérieurs.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660575" y="4098589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 txBox="1"/>
          <p:nvPr/>
        </p:nvSpPr>
        <p:spPr>
          <a:xfrm>
            <a:off x="701125" y="4317011"/>
            <a:ext cx="2207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credit_card_balance</a:t>
            </a: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.csv</a:t>
            </a:r>
            <a:endParaRPr b="1"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3364550" y="4110426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3415625" y="4024425"/>
            <a:ext cx="45366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Instantanés des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soldes mensuels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soldes de cartes de crédit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que le demandeur possède chez Home Credit.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pour chaque mois d’historique de crédits antérieurs.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76200" y="3351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highlight>
                  <a:schemeClr val="accent5"/>
                </a:highlight>
                <a:latin typeface="Exo 2"/>
                <a:ea typeface="Exo 2"/>
                <a:cs typeface="Exo 2"/>
                <a:sym typeface="Exo 2"/>
              </a:rPr>
              <a:t>Contexte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ctrTitle"/>
          </p:nvPr>
        </p:nvSpPr>
        <p:spPr>
          <a:xfrm>
            <a:off x="1964850" y="124250"/>
            <a:ext cx="52143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Jeux de données</a:t>
            </a:r>
            <a:endParaRPr sz="2600"/>
          </a:p>
        </p:txBody>
      </p:sp>
      <p:sp>
        <p:nvSpPr>
          <p:cNvPr id="238" name="Google Shape;238;p31"/>
          <p:cNvSpPr/>
          <p:nvPr/>
        </p:nvSpPr>
        <p:spPr>
          <a:xfrm>
            <a:off x="660575" y="1668814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701125" y="1887236"/>
            <a:ext cx="2207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installments_payments.csv</a:t>
            </a:r>
            <a:endParaRPr b="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3364550" y="1667388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/>
        </p:nvSpPr>
        <p:spPr>
          <a:xfrm>
            <a:off x="3415625" y="1581400"/>
            <a:ext cx="42780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Historique de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remboursement de crédits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 demandeurs concernés chez Home Credit.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pour chaque paiement effectué ou manqué.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660575" y="872989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663756" y="1091400"/>
            <a:ext cx="2298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previous_application.csv</a:t>
            </a:r>
            <a:endParaRPr b="1"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3364550" y="884826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3415625" y="798825"/>
            <a:ext cx="42780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Intégralité des </a:t>
            </a: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demandes passées de crédits 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chez Home Credit pour les demandeurs concernés.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Une ligne pour chaque mois de crédit passé.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660575" y="2491414"/>
            <a:ext cx="2341800" cy="633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701125" y="2795206"/>
            <a:ext cx="2207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HomeCredit_columns</a:t>
            </a:r>
            <a:endParaRPr b="1"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_description.csv</a:t>
            </a:r>
            <a:endParaRPr b="1"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3364550" y="2503251"/>
            <a:ext cx="4455600" cy="65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FFFF">
              <a:alpha val="28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3415625" y="2417250"/>
            <a:ext cx="42165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Descriptions</a:t>
            </a:r>
            <a:r>
              <a:rPr lang="en" sz="13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 colonnes dans les différents fichiers.</a:t>
            </a:r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76200" y="2664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highlight>
                  <a:schemeClr val="accent5"/>
                </a:highlight>
                <a:latin typeface="Exo 2"/>
                <a:ea typeface="Exo 2"/>
                <a:cs typeface="Exo 2"/>
                <a:sym typeface="Exo 2"/>
              </a:rPr>
              <a:t>Contexte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Modèle</a:t>
            </a:r>
            <a:endParaRPr/>
          </a:p>
        </p:txBody>
      </p:sp>
      <p:sp>
        <p:nvSpPr>
          <p:cNvPr id="257" name="Google Shape;257;p32"/>
          <p:cNvSpPr txBox="1"/>
          <p:nvPr>
            <p:ph idx="2" type="title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58" name="Google Shape;258;p32"/>
          <p:cNvCxnSpPr/>
          <p:nvPr/>
        </p:nvCxnSpPr>
        <p:spPr>
          <a:xfrm>
            <a:off x="7578325" y="4028400"/>
            <a:ext cx="156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ctrTitle"/>
          </p:nvPr>
        </p:nvSpPr>
        <p:spPr>
          <a:xfrm>
            <a:off x="24768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Traitement des données</a:t>
            </a:r>
            <a:endParaRPr/>
          </a:p>
        </p:txBody>
      </p:sp>
      <p:sp>
        <p:nvSpPr>
          <p:cNvPr id="265" name="Google Shape;265;p33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Modèle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68" name="Google Shape;268;p33"/>
          <p:cNvSpPr txBox="1"/>
          <p:nvPr>
            <p:ph idx="4294967295" type="subTitle"/>
          </p:nvPr>
        </p:nvSpPr>
        <p:spPr>
          <a:xfrm>
            <a:off x="641925" y="759875"/>
            <a:ext cx="7833000" cy="4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Le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nettoyage</a:t>
            </a:r>
            <a:r>
              <a:rPr lang="en" sz="1700"/>
              <a:t> et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l'agrégation</a:t>
            </a:r>
            <a:r>
              <a:rPr lang="en" sz="1700"/>
              <a:t> des donnés ont été accélérés par l’usage d’un extrait de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Kernel Kaggle</a:t>
            </a:r>
            <a:r>
              <a:rPr lang="en" sz="1700"/>
              <a:t>.</a:t>
            </a:r>
            <a:br>
              <a:rPr lang="en" sz="1700"/>
            </a:br>
            <a:br>
              <a:rPr lang="en" sz="1700"/>
            </a:br>
            <a:r>
              <a:rPr lang="en" sz="1700"/>
              <a:t>Dans un soucis de rapidité d’exécution, sur les 798 features du Kernel concerné</a:t>
            </a:r>
            <a:br>
              <a:rPr lang="en" sz="1700"/>
            </a:br>
            <a:r>
              <a:rPr lang="en" sz="1700"/>
              <a:t>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j’ai conservé 36 features</a:t>
            </a:r>
            <a:r>
              <a:rPr lang="en" sz="1700"/>
              <a:t> parmi celles ayant le plus d’importance lors d’un premier jet de modélisation sur 3 modèles 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>
                <a:latin typeface="Roboto Condensed"/>
                <a:ea typeface="Roboto Condensed"/>
                <a:cs typeface="Roboto Condensed"/>
                <a:sym typeface="Roboto Condensed"/>
              </a:rPr>
              <a:t>XGBoost</a:t>
            </a:r>
            <a:r>
              <a:rPr lang="en" sz="1700"/>
              <a:t> :  </a:t>
            </a:r>
            <a:r>
              <a:rPr lang="en" sz="1600"/>
              <a:t>boosting utilisant des arbres de décision, optimisé pour la performance et l'efficacité.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>
                <a:latin typeface="Roboto Condensed"/>
                <a:ea typeface="Roboto Condensed"/>
                <a:cs typeface="Roboto Condensed"/>
                <a:sym typeface="Roboto Condensed"/>
              </a:rPr>
              <a:t>LGBM</a:t>
            </a:r>
            <a:r>
              <a:rPr lang="en" sz="1700"/>
              <a:t> :</a:t>
            </a:r>
            <a:r>
              <a:rPr lang="en" sz="1600"/>
              <a:t> boosting basé sur des arbres de décision, conçu pour être rapide et efficace en termes de mémoire, avec une approche de croissance des feuilles.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>
                <a:latin typeface="Roboto Condensed"/>
                <a:ea typeface="Roboto Condensed"/>
                <a:cs typeface="Roboto Condensed"/>
                <a:sym typeface="Roboto Condensed"/>
              </a:rPr>
              <a:t>RandomForest</a:t>
            </a:r>
            <a:r>
              <a:rPr lang="en" sz="1700"/>
              <a:t> : </a:t>
            </a:r>
            <a:r>
              <a:rPr lang="en" sz="1600"/>
              <a:t>ensembliste utilisant plusieurs arbres de décision, chacun entraîné sur un sous-ensemble de données, pour améliorer la généralisation et réduire le surapprentissage.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ctrTitle"/>
          </p:nvPr>
        </p:nvSpPr>
        <p:spPr>
          <a:xfrm>
            <a:off x="2400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Modélisation</a:t>
            </a:r>
            <a:endParaRPr/>
          </a:p>
        </p:txBody>
      </p:sp>
      <p:sp>
        <p:nvSpPr>
          <p:cNvPr id="274" name="Google Shape;274;p34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Modèle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275" name="Google Shape;27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4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77" name="Google Shape;277;p34"/>
          <p:cNvSpPr txBox="1"/>
          <p:nvPr>
            <p:ph idx="4294967295" type="subTitle"/>
          </p:nvPr>
        </p:nvSpPr>
        <p:spPr>
          <a:xfrm>
            <a:off x="225750" y="692225"/>
            <a:ext cx="3916800" cy="39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Caractéristiques principales 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MLFlow</a:t>
            </a:r>
            <a:r>
              <a:rPr lang="en" sz="1700"/>
              <a:t> pour suivi des résultats (logs entrainements, métriques)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F-beta score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personnalisé</a:t>
            </a:r>
            <a:r>
              <a:rPr lang="en" sz="1700"/>
              <a:t> pour intégrer la notion de “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Score métier</a:t>
            </a:r>
            <a:r>
              <a:rPr lang="en" sz="1700"/>
              <a:t>”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Smote</a:t>
            </a:r>
            <a:r>
              <a:rPr lang="en" sz="1700"/>
              <a:t> optionnel pour gérer la distribution inégale des cibles (90-10)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GridSearchCV</a:t>
            </a:r>
            <a:r>
              <a:rPr lang="en" sz="1700"/>
              <a:t> pour recherche d’Hyperparamètres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Export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Pickle</a:t>
            </a:r>
            <a:r>
              <a:rPr lang="en" sz="1700"/>
              <a:t> (.pkl) des meilleurs modèles pour usage ultérieur</a:t>
            </a:r>
            <a:endParaRPr sz="1700"/>
          </a:p>
        </p:txBody>
      </p:sp>
      <p:pic>
        <p:nvPicPr>
          <p:cNvPr id="278" name="Google Shape;2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750" y="616025"/>
            <a:ext cx="4527152" cy="211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750" y="2833625"/>
            <a:ext cx="1963600" cy="1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1874" y="2833619"/>
            <a:ext cx="2467024" cy="196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ctrTitle"/>
          </p:nvPr>
        </p:nvSpPr>
        <p:spPr>
          <a:xfrm>
            <a:off x="2400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Drift</a:t>
            </a:r>
            <a:endParaRPr/>
          </a:p>
        </p:txBody>
      </p:sp>
      <p:sp>
        <p:nvSpPr>
          <p:cNvPr id="286" name="Google Shape;286;p35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Modèle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287" name="Google Shape;28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5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89" name="Google Shape;289;p35"/>
          <p:cNvSpPr txBox="1"/>
          <p:nvPr>
            <p:ph idx="4294967295" type="subTitle"/>
          </p:nvPr>
        </p:nvSpPr>
        <p:spPr>
          <a:xfrm>
            <a:off x="225750" y="539825"/>
            <a:ext cx="39825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Outil : librairie </a:t>
            </a:r>
            <a:r>
              <a:rPr b="1" lang="en" sz="1600">
                <a:latin typeface="Roboto Condensed"/>
                <a:ea typeface="Roboto Condensed"/>
                <a:cs typeface="Roboto Condensed"/>
                <a:sym typeface="Roboto Condensed"/>
              </a:rPr>
              <a:t>Evidently</a:t>
            </a:r>
            <a:r>
              <a:rPr lang="en" sz="1600"/>
              <a:t>.</a:t>
            </a:r>
            <a:br>
              <a:rPr lang="en" sz="1600"/>
            </a:br>
            <a:r>
              <a:rPr lang="en" sz="1600"/>
              <a:t>Comparaison de deux Datasets :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dataset </a:t>
            </a:r>
            <a:r>
              <a:rPr b="1" lang="en" sz="1600">
                <a:latin typeface="Roboto Condensed"/>
                <a:ea typeface="Roboto Condensed"/>
                <a:cs typeface="Roboto Condensed"/>
                <a:sym typeface="Roboto Condensed"/>
              </a:rPr>
              <a:t>d’</a:t>
            </a:r>
            <a:r>
              <a:rPr b="1" lang="en" sz="1600">
                <a:latin typeface="Roboto Condensed"/>
                <a:ea typeface="Roboto Condensed"/>
                <a:cs typeface="Roboto Condensed"/>
                <a:sym typeface="Roboto Condensed"/>
              </a:rPr>
              <a:t>entraînement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latin typeface="Roboto Condensed"/>
                <a:ea typeface="Roboto Condensed"/>
                <a:cs typeface="Roboto Condensed"/>
                <a:sym typeface="Roboto Condensed"/>
              </a:rPr>
              <a:t>second</a:t>
            </a:r>
            <a:r>
              <a:rPr lang="en" sz="1600"/>
              <a:t> dataset </a:t>
            </a:r>
            <a:r>
              <a:rPr lang="en" sz="1600"/>
              <a:t>fourni</a:t>
            </a:r>
            <a:r>
              <a:rPr lang="en" sz="1600"/>
              <a:t> avec des </a:t>
            </a:r>
            <a:r>
              <a:rPr b="1" lang="en" sz="1600">
                <a:latin typeface="Roboto Condensed"/>
                <a:ea typeface="Roboto Condensed"/>
                <a:cs typeface="Roboto Condensed"/>
                <a:sym typeface="Roboto Condensed"/>
              </a:rPr>
              <a:t>données plus récentes</a:t>
            </a:r>
            <a:endParaRPr b="1"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Résultats 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La majorité des variables n’ont pas de drift/dérive de données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1 variable avec un drift mineur (dépasse à peine la limite)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PAYMENT_RATE avec un drift important</a:t>
            </a:r>
            <a:endParaRPr sz="1600"/>
          </a:p>
        </p:txBody>
      </p:sp>
      <p:pic>
        <p:nvPicPr>
          <p:cNvPr id="290" name="Google Shape;2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600" y="723750"/>
            <a:ext cx="4476824" cy="159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4600" y="2538662"/>
            <a:ext cx="4476826" cy="199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5"/>
          <p:cNvSpPr txBox="1"/>
          <p:nvPr/>
        </p:nvSpPr>
        <p:spPr>
          <a:xfrm>
            <a:off x="180075" y="4316825"/>
            <a:ext cx="4356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=&gt; PAYMENT_RATE fait partie des 5 variables ayant le plus de poids, il faudra ré-</a:t>
            </a:r>
            <a:r>
              <a:rPr lang="en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entraîner</a:t>
            </a:r>
            <a:r>
              <a:rPr lang="en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le modèle.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</a:t>
            </a:r>
            <a:endParaRPr/>
          </a:p>
        </p:txBody>
      </p:sp>
      <p:sp>
        <p:nvSpPr>
          <p:cNvPr id="298" name="Google Shape;298;p36"/>
          <p:cNvSpPr txBox="1"/>
          <p:nvPr>
            <p:ph idx="2" type="title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299" name="Google Shape;299;p36"/>
          <p:cNvCxnSpPr/>
          <p:nvPr/>
        </p:nvCxnSpPr>
        <p:spPr>
          <a:xfrm>
            <a:off x="7626825" y="2744700"/>
            <a:ext cx="156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ctrTitle"/>
          </p:nvPr>
        </p:nvSpPr>
        <p:spPr>
          <a:xfrm>
            <a:off x="2019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</a:t>
            </a:r>
            <a:endParaRPr/>
          </a:p>
        </p:txBody>
      </p:sp>
      <p:sp>
        <p:nvSpPr>
          <p:cNvPr id="306" name="Google Shape;306;p37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API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307" name="Google Shape;30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7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09" name="Google Shape;309;p37"/>
          <p:cNvSpPr txBox="1"/>
          <p:nvPr>
            <p:ph idx="4294967295" type="subTitle"/>
          </p:nvPr>
        </p:nvSpPr>
        <p:spPr>
          <a:xfrm>
            <a:off x="238125" y="607475"/>
            <a:ext cx="8205000" cy="4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Librairie FastAPI.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Utilise le modèle exporté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6 points d’entrée 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/data</a:t>
            </a:r>
            <a:r>
              <a:rPr lang="en" sz="1700"/>
              <a:t> : retourne l’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ensemble des données utilisateur</a:t>
            </a:r>
            <a:r>
              <a:rPr lang="en" sz="1700"/>
              <a:t> (format Parquet ou CSV).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/user_data</a:t>
            </a:r>
            <a:r>
              <a:rPr lang="en" sz="1700"/>
              <a:t> : demande un ID client, </a:t>
            </a:r>
            <a:r>
              <a:rPr lang="en" sz="1700"/>
              <a:t>retourne</a:t>
            </a:r>
            <a:r>
              <a:rPr lang="en" sz="1700"/>
              <a:t> les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données du client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/shap</a:t>
            </a:r>
            <a:r>
              <a:rPr lang="en" sz="1700"/>
              <a:t> : demande un ID client, retourne les données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SHAP</a:t>
            </a:r>
            <a:r>
              <a:rPr lang="en" sz="1700"/>
              <a:t>  le concernant par rapport au modèle.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/shap_by_input </a:t>
            </a:r>
            <a:r>
              <a:rPr lang="en" sz="1700"/>
              <a:t>: demande le détail des données client, retourne le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SHAP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/predict</a:t>
            </a:r>
            <a:r>
              <a:rPr lang="en" sz="1700"/>
              <a:t> : demande le détail des données client, retourne une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prédiction</a:t>
            </a:r>
            <a:r>
              <a:rPr lang="en" sz="1700"/>
              <a:t>, les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probabilités</a:t>
            </a:r>
            <a:r>
              <a:rPr lang="en" sz="1700"/>
              <a:t> de la prédiction, la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prédiction binaire</a:t>
            </a:r>
            <a:r>
              <a:rPr lang="en" sz="1700"/>
              <a:t> correspondant au score métier et le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seuil optimal</a:t>
            </a:r>
            <a:r>
              <a:rPr lang="en" sz="1700"/>
              <a:t> du score métier.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/>
          <p:nvPr>
            <p:ph type="ctrTitle"/>
          </p:nvPr>
        </p:nvSpPr>
        <p:spPr>
          <a:xfrm>
            <a:off x="2019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315" name="Google Shape;315;p38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API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316" name="Google Shape;316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38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18" name="Google Shape;318;p38"/>
          <p:cNvSpPr txBox="1"/>
          <p:nvPr>
            <p:ph idx="4294967295" type="subTitle"/>
          </p:nvPr>
        </p:nvSpPr>
        <p:spPr>
          <a:xfrm>
            <a:off x="238125" y="607475"/>
            <a:ext cx="3883200" cy="4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Librairie PyTest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Emule un client de test pour FastAPI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Récupère la définition main.py de l’API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Teste les différents points d’appel 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Appels corrects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Appels erronnés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Structure des résultats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Les tests sont exécutables manuellement, et sont exécutés lors des déploiements (local et en production).</a:t>
            </a:r>
            <a:endParaRPr sz="1700"/>
          </a:p>
        </p:txBody>
      </p:sp>
      <p:pic>
        <p:nvPicPr>
          <p:cNvPr id="319" name="Google Shape;3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700" y="904375"/>
            <a:ext cx="3932086" cy="363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325" name="Google Shape;325;p39"/>
          <p:cNvSpPr txBox="1"/>
          <p:nvPr>
            <p:ph idx="2" type="title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326" name="Google Shape;326;p39"/>
          <p:cNvCxnSpPr/>
          <p:nvPr/>
        </p:nvCxnSpPr>
        <p:spPr>
          <a:xfrm>
            <a:off x="7578325" y="4028400"/>
            <a:ext cx="156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idx="2" type="ctrTitle"/>
          </p:nvPr>
        </p:nvSpPr>
        <p:spPr>
          <a:xfrm>
            <a:off x="1978526" y="72025"/>
            <a:ext cx="5214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</a:t>
            </a:r>
            <a:r>
              <a:rPr lang="en" sz="2600"/>
              <a:t>pécifications </a:t>
            </a:r>
            <a:endParaRPr sz="2600"/>
          </a:p>
        </p:txBody>
      </p:sp>
      <p:sp>
        <p:nvSpPr>
          <p:cNvPr id="333" name="Google Shape;333;p40"/>
          <p:cNvSpPr txBox="1"/>
          <p:nvPr>
            <p:ph type="ctrTitle"/>
          </p:nvPr>
        </p:nvSpPr>
        <p:spPr>
          <a:xfrm>
            <a:off x="2757851" y="1076775"/>
            <a:ext cx="548700" cy="5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1</a:t>
            </a:r>
            <a:endParaRPr sz="2200"/>
          </a:p>
        </p:txBody>
      </p:sp>
      <p:sp>
        <p:nvSpPr>
          <p:cNvPr id="334" name="Google Shape;334;p40"/>
          <p:cNvSpPr txBox="1"/>
          <p:nvPr>
            <p:ph idx="1" type="subTitle"/>
          </p:nvPr>
        </p:nvSpPr>
        <p:spPr>
          <a:xfrm>
            <a:off x="2605600" y="1267250"/>
            <a:ext cx="5335200" cy="1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Permettre de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visualiser le score et l’interprétation de ce score</a:t>
            </a:r>
            <a:r>
              <a:rPr lang="en" sz="1700">
                <a:solidFill>
                  <a:schemeClr val="dk1"/>
                </a:solidFill>
              </a:rPr>
              <a:t> pour chaque client de façon intelligible pour une personne non experte en data science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5" name="Google Shape;335;p40"/>
          <p:cNvSpPr txBox="1"/>
          <p:nvPr>
            <p:ph type="ctrTitle"/>
          </p:nvPr>
        </p:nvSpPr>
        <p:spPr>
          <a:xfrm>
            <a:off x="2757851" y="2228784"/>
            <a:ext cx="474600" cy="5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2</a:t>
            </a:r>
            <a:endParaRPr sz="2200"/>
          </a:p>
        </p:txBody>
      </p:sp>
      <p:sp>
        <p:nvSpPr>
          <p:cNvPr id="336" name="Google Shape;336;p40"/>
          <p:cNvSpPr txBox="1"/>
          <p:nvPr>
            <p:ph idx="1" type="subTitle"/>
          </p:nvPr>
        </p:nvSpPr>
        <p:spPr>
          <a:xfrm>
            <a:off x="2616625" y="2441495"/>
            <a:ext cx="5335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Permettre de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visualiser des informations descriptives</a:t>
            </a:r>
            <a:r>
              <a:rPr lang="en" sz="1700">
                <a:solidFill>
                  <a:schemeClr val="dk1"/>
                </a:solidFill>
              </a:rPr>
              <a:t> relatives à un client (via un système de filtre).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37" name="Google Shape;337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40"/>
          <p:cNvSpPr txBox="1"/>
          <p:nvPr>
            <p:ph idx="2"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Dashboard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339" name="Google Shape;339;p40"/>
          <p:cNvSpPr txBox="1"/>
          <p:nvPr>
            <p:ph type="ctrTitle"/>
          </p:nvPr>
        </p:nvSpPr>
        <p:spPr>
          <a:xfrm>
            <a:off x="2755228" y="3191634"/>
            <a:ext cx="548700" cy="5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</a:t>
            </a:r>
            <a:endParaRPr sz="2200"/>
          </a:p>
        </p:txBody>
      </p:sp>
      <p:sp>
        <p:nvSpPr>
          <p:cNvPr id="340" name="Google Shape;340;p40"/>
          <p:cNvSpPr txBox="1"/>
          <p:nvPr>
            <p:ph idx="1" type="subTitle"/>
          </p:nvPr>
        </p:nvSpPr>
        <p:spPr>
          <a:xfrm>
            <a:off x="2614300" y="3432452"/>
            <a:ext cx="5335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Permettre de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comparer</a:t>
            </a:r>
            <a:r>
              <a:rPr lang="en" sz="1700">
                <a:solidFill>
                  <a:schemeClr val="dk1"/>
                </a:solidFill>
              </a:rPr>
              <a:t> les informations descriptives </a:t>
            </a:r>
            <a:r>
              <a:rPr b="1" lang="en" sz="1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relatives à un client à l’ensemble des clients </a:t>
            </a:r>
            <a:r>
              <a:rPr lang="en" sz="1700">
                <a:solidFill>
                  <a:schemeClr val="dk1"/>
                </a:solidFill>
              </a:rPr>
              <a:t>ou à un groupe de clients similaires.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ctrTitle"/>
          </p:nvPr>
        </p:nvSpPr>
        <p:spPr>
          <a:xfrm>
            <a:off x="2019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</a:t>
            </a:r>
            <a:endParaRPr/>
          </a:p>
        </p:txBody>
      </p:sp>
      <p:sp>
        <p:nvSpPr>
          <p:cNvPr id="346" name="Google Shape;346;p41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Dashboard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347" name="Google Shape;34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1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49" name="Google Shape;349;p41"/>
          <p:cNvSpPr txBox="1"/>
          <p:nvPr>
            <p:ph idx="4294967295" type="subTitle"/>
          </p:nvPr>
        </p:nvSpPr>
        <p:spPr>
          <a:xfrm>
            <a:off x="238125" y="607475"/>
            <a:ext cx="3627600" cy="4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Librairie Streamlit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Sélection</a:t>
            </a:r>
            <a:r>
              <a:rPr lang="en" sz="1700"/>
              <a:t> de l’ID client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Possibilité d’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éditer les données</a:t>
            </a:r>
            <a:r>
              <a:rPr lang="en" sz="1700"/>
              <a:t> pour tester l’impact sur prédiction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Bouton</a:t>
            </a:r>
            <a:r>
              <a:rPr lang="en" sz="1700"/>
              <a:t>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prédiction</a:t>
            </a:r>
            <a:r>
              <a:rPr lang="en" sz="1700"/>
              <a:t> : affiche une jauge, la prédiction, probabilité, prédiction binaire et seuil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Importance</a:t>
            </a:r>
            <a:r>
              <a:rPr lang="en" sz="1700"/>
              <a:t> des variables :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SHAP</a:t>
            </a:r>
            <a:r>
              <a:rPr lang="en" sz="1700"/>
              <a:t> du client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Positionnement</a:t>
            </a:r>
            <a:r>
              <a:rPr lang="en" sz="1700"/>
              <a:t> du client par variable : différent modes de sélection, sélection top 4 du SHAP par défaut,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édition des sélections possible</a:t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731" y="640975"/>
            <a:ext cx="2764400" cy="36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113" y="640975"/>
            <a:ext cx="2539725" cy="250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Déploiement</a:t>
            </a:r>
            <a:endParaRPr/>
          </a:p>
        </p:txBody>
      </p:sp>
      <p:sp>
        <p:nvSpPr>
          <p:cNvPr id="357" name="Google Shape;357;p42"/>
          <p:cNvSpPr txBox="1"/>
          <p:nvPr>
            <p:ph idx="2" type="title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358" name="Google Shape;358;p42"/>
          <p:cNvCxnSpPr/>
          <p:nvPr/>
        </p:nvCxnSpPr>
        <p:spPr>
          <a:xfrm>
            <a:off x="0" y="4028275"/>
            <a:ext cx="15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ctrTitle"/>
          </p:nvPr>
        </p:nvSpPr>
        <p:spPr>
          <a:xfrm>
            <a:off x="2019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+ local</a:t>
            </a:r>
            <a:endParaRPr/>
          </a:p>
        </p:txBody>
      </p:sp>
      <p:sp>
        <p:nvSpPr>
          <p:cNvPr id="365" name="Google Shape;365;p43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Déploiement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366" name="Google Shape;36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43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68" name="Google Shape;368;p43"/>
          <p:cNvSpPr txBox="1"/>
          <p:nvPr>
            <p:ph idx="4294967295" type="subTitle"/>
          </p:nvPr>
        </p:nvSpPr>
        <p:spPr>
          <a:xfrm>
            <a:off x="430675" y="552300"/>
            <a:ext cx="38292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Structure</a:t>
            </a:r>
            <a:r>
              <a:rPr lang="en" sz="1700"/>
              <a:t> : un dossier/</a:t>
            </a:r>
            <a:r>
              <a:rPr lang="en" sz="1700"/>
              <a:t>repo</a:t>
            </a:r>
            <a:r>
              <a:rPr lang="en" sz="1700"/>
              <a:t> Git principal, deux sous-dossiers (API, dashboard)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Docker</a:t>
            </a:r>
            <a:r>
              <a:rPr lang="en" sz="1700"/>
              <a:t> : chaque sous-dossier a une définition Dockerfile indépendante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Déploiement local </a:t>
            </a:r>
            <a:r>
              <a:rPr lang="en" sz="1700"/>
              <a:t>: un docker-compose.yml incluant l’exécution de tests</a:t>
            </a:r>
            <a:endParaRPr sz="1700"/>
          </a:p>
        </p:txBody>
      </p:sp>
      <p:pic>
        <p:nvPicPr>
          <p:cNvPr id="369" name="Google Shape;3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7725" y="116475"/>
            <a:ext cx="1601750" cy="482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066" y="1205375"/>
            <a:ext cx="2524858" cy="37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638" y="3140032"/>
            <a:ext cx="3712500" cy="1802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>
            <p:ph type="ctrTitle"/>
          </p:nvPr>
        </p:nvSpPr>
        <p:spPr>
          <a:xfrm>
            <a:off x="2019625" y="83525"/>
            <a:ext cx="52143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production</a:t>
            </a:r>
            <a:endParaRPr/>
          </a:p>
        </p:txBody>
      </p:sp>
      <p:sp>
        <p:nvSpPr>
          <p:cNvPr id="377" name="Google Shape;377;p44"/>
          <p:cNvSpPr txBox="1"/>
          <p:nvPr>
            <p:ph type="ctrTitle"/>
          </p:nvPr>
        </p:nvSpPr>
        <p:spPr>
          <a:xfrm>
            <a:off x="77600" y="32275"/>
            <a:ext cx="37125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accent5"/>
                </a:highlight>
              </a:rPr>
              <a:t>Déploiement</a:t>
            </a:r>
            <a:endParaRPr>
              <a:solidFill>
                <a:schemeClr val="accent1"/>
              </a:solidFill>
              <a:highlight>
                <a:schemeClr val="accent5"/>
              </a:highlight>
            </a:endParaRPr>
          </a:p>
        </p:txBody>
      </p:sp>
      <p:sp>
        <p:nvSpPr>
          <p:cNvPr id="378" name="Google Shape;37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4"/>
          <p:cNvSpPr txBox="1"/>
          <p:nvPr/>
        </p:nvSpPr>
        <p:spPr>
          <a:xfrm>
            <a:off x="3865675" y="836075"/>
            <a:ext cx="30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80" name="Google Shape;380;p44"/>
          <p:cNvSpPr txBox="1"/>
          <p:nvPr>
            <p:ph idx="4294967295" type="subTitle"/>
          </p:nvPr>
        </p:nvSpPr>
        <p:spPr>
          <a:xfrm>
            <a:off x="152756" y="522106"/>
            <a:ext cx="3552000" cy="4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Structure</a:t>
            </a:r>
            <a:r>
              <a:rPr lang="en" sz="1700"/>
              <a:t> : 2 sous-dossiers pour API &amp; Dashboard, comme en  local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CI/CD </a:t>
            </a:r>
            <a:r>
              <a:rPr lang="en" sz="1700"/>
              <a:t>Github Actions (orchestration Intégration Continue / Déploiement Continu) 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définition dans un fichier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deploy.yaml</a:t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Variables “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Secret</a:t>
            </a:r>
            <a:r>
              <a:rPr lang="en" sz="1700"/>
              <a:t>” définies dans les options du repo GitHub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Exécution des </a:t>
            </a: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tests</a:t>
            </a:r>
            <a:r>
              <a:rPr lang="en" sz="1700"/>
              <a:t> API intégrée au déploiement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Google Container Registry </a:t>
            </a:r>
            <a:r>
              <a:rPr lang="en" sz="1700"/>
              <a:t>: build &amp; push images Docker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>
                <a:latin typeface="Roboto Condensed"/>
                <a:ea typeface="Roboto Condensed"/>
                <a:cs typeface="Roboto Condensed"/>
                <a:sym typeface="Roboto Condensed"/>
              </a:rPr>
              <a:t>Google Cloud Run</a:t>
            </a:r>
            <a:r>
              <a:rPr lang="en" sz="1700"/>
              <a:t> : hébergement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381" name="Google Shape;3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229" y="3000575"/>
            <a:ext cx="3422826" cy="203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229" y="1363811"/>
            <a:ext cx="3422824" cy="1505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5067" y="111603"/>
            <a:ext cx="1414861" cy="492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idx="4294967295" type="subTitle"/>
          </p:nvPr>
        </p:nvSpPr>
        <p:spPr>
          <a:xfrm>
            <a:off x="2152500" y="2113850"/>
            <a:ext cx="4839000" cy="12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Pour votre attention.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GAILLOT Dimitri</a:t>
            </a:r>
            <a:endParaRPr sz="1700"/>
          </a:p>
        </p:txBody>
      </p:sp>
      <p:sp>
        <p:nvSpPr>
          <p:cNvPr id="389" name="Google Shape;389;p45"/>
          <p:cNvSpPr txBox="1"/>
          <p:nvPr>
            <p:ph idx="4294967295" type="ctrTitle"/>
          </p:nvPr>
        </p:nvSpPr>
        <p:spPr>
          <a:xfrm flipH="1">
            <a:off x="1974150" y="1161000"/>
            <a:ext cx="51957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Merci</a:t>
            </a:r>
            <a:endParaRPr sz="6000"/>
          </a:p>
        </p:txBody>
      </p:sp>
      <p:sp>
        <p:nvSpPr>
          <p:cNvPr id="390" name="Google Shape;39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